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13716000" cx="24384000"/>
  <p:notesSz cx="6858000" cy="9144000"/>
  <p:embeddedFontLst>
    <p:embeddedFont>
      <p:font typeface="Helvetica Neue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slide" Target="slides/slide1.xml"/><Relationship Id="rId19" Type="http://schemas.openxmlformats.org/officeDocument/2006/relationships/font" Target="fonts/HelveticaNeue-boldItalic.fntdata"/><Relationship Id="rId6" Type="http://schemas.openxmlformats.org/officeDocument/2006/relationships/slide" Target="slides/slide2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bff6c6cc0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g3ebff6c6cc0_0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bff6c6cc0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g3ebff6c6cc0_0_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bff6c6cc0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g3ebff6c6cc0_0_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bff6c6cc0_0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g3ebff6c6cc0_0_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bff6c6cc0_0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g3ebff6c6cc0_0_9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bff6c6cc0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g3ebff6c6cc0_0_1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bff6c6cc0_0_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g3ebff6c6cc0_0_1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bff6c6cc0_0_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g3ebff6c6cc0_0_1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 showMasterSp="0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Изображение" id="16" name="Google Shape;1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сбор гум.помощи-05.png" id="18" name="Google Shape;1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8086" y="1924345"/>
            <a:ext cx="1532263" cy="1772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2"/>
          <p:cNvCxnSpPr/>
          <p:nvPr/>
        </p:nvCxnSpPr>
        <p:spPr>
          <a:xfrm>
            <a:off x="12180424" y="1924344"/>
            <a:ext cx="2" cy="1680348"/>
          </a:xfrm>
          <a:prstGeom prst="straightConnector1">
            <a:avLst/>
          </a:prstGeom>
          <a:noFill/>
          <a:ln cap="flat" cmpd="sng" w="25400">
            <a:solidFill>
              <a:srgbClr val="102D69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20" name="Google Shape;20;p2"/>
          <p:cNvCxnSpPr/>
          <p:nvPr/>
        </p:nvCxnSpPr>
        <p:spPr>
          <a:xfrm>
            <a:off x="17285159" y="1924344"/>
            <a:ext cx="2" cy="1680348"/>
          </a:xfrm>
          <a:prstGeom prst="straightConnector1">
            <a:avLst/>
          </a:prstGeom>
          <a:noFill/>
          <a:ln cap="flat" cmpd="sng" w="25400">
            <a:solidFill>
              <a:srgbClr val="102D69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21" name="Google Shape;21;p2"/>
          <p:cNvCxnSpPr/>
          <p:nvPr/>
        </p:nvCxnSpPr>
        <p:spPr>
          <a:xfrm>
            <a:off x="22358092" y="1924344"/>
            <a:ext cx="2" cy="1680348"/>
          </a:xfrm>
          <a:prstGeom prst="straightConnector1">
            <a:avLst/>
          </a:prstGeom>
          <a:noFill/>
          <a:ln cap="flat" cmpd="sng" w="25400">
            <a:solidFill>
              <a:srgbClr val="102D69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2" name="Google Shape;22;p2"/>
          <p:cNvSpPr txBox="1"/>
          <p:nvPr>
            <p:ph idx="1" type="body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2" type="body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3" type="body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4" type="body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5" type="body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Изображение" id="27" name="Google Shape;27;p2"/>
          <p:cNvPicPr preferRelativeResize="0"/>
          <p:nvPr/>
        </p:nvPicPr>
        <p:blipFill rotWithShape="1">
          <a:blip r:embed="rId5">
            <a:alphaModFix amt="27474"/>
          </a:blip>
          <a:srcRect b="0" l="0" r="0" t="0"/>
          <a:stretch/>
        </p:blipFill>
        <p:spPr>
          <a:xfrm>
            <a:off x="13288396" y="1662907"/>
            <a:ext cx="16546249" cy="1779153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/>
          <p:nvPr>
            <p:ph idx="12" type="sldNum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1">
  <p:cSld name="Текст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>
            <p:ph idx="1" type="body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сбор гум.помощи-06.png" id="6" name="Google Shape;6;p1"/>
          <p:cNvPicPr preferRelativeResize="0"/>
          <p:nvPr/>
        </p:nvPicPr>
        <p:blipFill rotWithShape="1">
          <a:blip r:embed="rId1">
            <a:alphaModFix/>
          </a:blip>
          <a:srcRect b="4" l="0" r="0" t="4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2538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" name="Google Shape;8;p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9" name="Google Shape;9;p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" name="Google Shape;10;p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descr="сбор гум.помощи-05.png" id="11" name="Google Shape;11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>
            <p:ph idx="1" type="body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584200" lvl="0" marL="457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84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842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842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842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842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842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842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842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idx="1" type="body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72222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800"/>
              <a:buNone/>
            </a:pPr>
            <a:r>
              <a:rPr lang="en-US" sz="1800"/>
              <a:t>Информационные системы и технологии </a:t>
            </a:r>
            <a:r>
              <a:rPr lang="en-US" sz="1800">
                <a:solidFill>
                  <a:srgbClr val="2253A1"/>
                </a:solidFill>
              </a:rPr>
              <a:t>(09.03.02) </a:t>
            </a:r>
            <a:endParaRPr sz="1800"/>
          </a:p>
          <a:p>
            <a:pPr indent="0" lvl="0" marL="0" rtl="0" algn="l">
              <a:lnSpc>
                <a:spcPct val="272222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800"/>
              <a:buNone/>
            </a:pPr>
            <a:r>
              <a:rPr lang="en-US" sz="1800">
                <a:solidFill>
                  <a:srgbClr val="2253A1"/>
                </a:solidFill>
              </a:rPr>
              <a:t>3 курс</a:t>
            </a:r>
            <a:endParaRPr sz="1800">
              <a:solidFill>
                <a:srgbClr val="0070C0"/>
              </a:solidFill>
            </a:endParaRPr>
          </a:p>
        </p:txBody>
      </p:sp>
      <p:sp>
        <p:nvSpPr>
          <p:cNvPr id="38" name="Google Shape;38;p4"/>
          <p:cNvSpPr txBox="1"/>
          <p:nvPr>
            <p:ph idx="2" type="body"/>
          </p:nvPr>
        </p:nvSpPr>
        <p:spPr>
          <a:xfrm>
            <a:off x="12479957" y="2224145"/>
            <a:ext cx="4741243" cy="15668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800"/>
              <a:buFont typeface="Helvetica Neue"/>
              <a:buNone/>
            </a:pPr>
            <a:r>
              <a:rPr lang="en-US" sz="1800"/>
              <a:t>Передовая инженерная школа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800"/>
              <a:buFont typeface="Helvetica Neue"/>
              <a:buNone/>
            </a:pPr>
            <a:r>
              <a:rPr lang="en-US" sz="1800"/>
              <a:t>«Интеллектуальные системы тераностики»</a:t>
            </a:r>
            <a:endParaRPr sz="1800"/>
          </a:p>
        </p:txBody>
      </p:sp>
      <p:sp>
        <p:nvSpPr>
          <p:cNvPr id="39" name="Google Shape;39;p4"/>
          <p:cNvSpPr txBox="1"/>
          <p:nvPr>
            <p:ph idx="3" type="body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800"/>
              <a:buFont typeface="Helvetica Neue"/>
              <a:buNone/>
            </a:pPr>
            <a:r>
              <a:rPr lang="en-US" sz="1800"/>
              <a:t>Группа</a:t>
            </a:r>
            <a:br>
              <a:rPr lang="en-US" sz="1800"/>
            </a:br>
            <a:r>
              <a:rPr lang="en-US" sz="1800"/>
              <a:t>636-01</a:t>
            </a:r>
            <a:endParaRPr sz="1800"/>
          </a:p>
        </p:txBody>
      </p:sp>
      <p:sp>
        <p:nvSpPr>
          <p:cNvPr id="40" name="Google Shape;40;p4"/>
          <p:cNvSpPr txBox="1"/>
          <p:nvPr>
            <p:ph idx="4" type="body"/>
          </p:nvPr>
        </p:nvSpPr>
        <p:spPr>
          <a:xfrm>
            <a:off x="2029000" y="5091525"/>
            <a:ext cx="17745000" cy="44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Helvetica Neue"/>
              <a:buNone/>
            </a:pPr>
            <a:r>
              <a:rPr lang="en-US" sz="8000">
                <a:solidFill>
                  <a:srgbClr val="0C0C0C"/>
                </a:solidFill>
              </a:rPr>
              <a:t>Исследование методов машинного обучения для прогнозирования сахарного диабета на основе клинических данных </a:t>
            </a:r>
            <a:endParaRPr sz="8000">
              <a:solidFill>
                <a:srgbClr val="0C0C0C"/>
              </a:solidFill>
            </a:endParaRPr>
          </a:p>
        </p:txBody>
      </p:sp>
      <p:sp>
        <p:nvSpPr>
          <p:cNvPr id="41" name="Google Shape;41;p4"/>
          <p:cNvSpPr txBox="1"/>
          <p:nvPr>
            <p:ph idx="5" type="body"/>
          </p:nvPr>
        </p:nvSpPr>
        <p:spPr>
          <a:xfrm>
            <a:off x="2029011" y="11143858"/>
            <a:ext cx="9995700" cy="17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57143"/>
              <a:buFont typeface="Helvetica Neue"/>
              <a:buNone/>
            </a:pPr>
            <a:r>
              <a:rPr lang="en-US">
                <a:solidFill>
                  <a:srgbClr val="0C0C0C"/>
                </a:solidFill>
              </a:rPr>
              <a:t>Белякова Екатерина Дмитриевна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/>
        </p:nvSpPr>
        <p:spPr>
          <a:xfrm>
            <a:off x="1133800" y="2627900"/>
            <a:ext cx="18255900" cy="16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Актуальность</a:t>
            </a: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 проблемы </a:t>
            </a: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сахарного</a:t>
            </a: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 диабета </a:t>
            </a:r>
            <a:endParaRPr sz="5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/>
          <p:nvPr/>
        </p:nvSpPr>
        <p:spPr>
          <a:xfrm>
            <a:off x="869550" y="4117225"/>
            <a:ext cx="41796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0">
                <a:latin typeface="Calibri"/>
                <a:ea typeface="Calibri"/>
                <a:cs typeface="Calibri"/>
                <a:sym typeface="Calibri"/>
              </a:rPr>
              <a:t>17,5 </a:t>
            </a:r>
            <a:endParaRPr sz="14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6378475" y="4117225"/>
            <a:ext cx="41796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0"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млн. 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11647500" y="4117225"/>
            <a:ext cx="52602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0">
                <a:latin typeface="Calibri"/>
                <a:ea typeface="Calibri"/>
                <a:cs typeface="Calibri"/>
                <a:sym typeface="Calibri"/>
              </a:rPr>
              <a:t>30-44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%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17452625" y="4117225"/>
            <a:ext cx="41796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0"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%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869550" y="6663425"/>
            <a:ext cx="51885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Целевой показатель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смертности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 от сахарного диабета в России на 100 тыс. населения. Источник: документы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Правительства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Минздрава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 РФ по достижению национальных целей в здравоохранении 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https://www.sciencedirect.com/science/article/pii/S0168822725002918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6378475" y="6533725"/>
            <a:ext cx="4724100" cy="6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По данным Федерального регистра сахарного диабета российских официальных оценок в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России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 зарегистрировано порядка 6 млн. пациентов с диабетом. Из них около 5-10% имеют диабет 1-ого типа, а 90-95% диабет 2-ого типа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https://diabetesatlas.org/resources/idf-diabetes-atlas-2025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11647500" y="6533725"/>
            <a:ext cx="5044500" cy="6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Случаев не диагностированы. По оценкам IDF примерно каждый	й 3-й взрослый с диабетом не знает о своем заболевании. В глобальном масштабе это около 252 млн. человек с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не диагностированным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 диабетом, это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подчеркивает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 необходимость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активного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 скрининга.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https://pubmed.ncbi.nlm.nih.gov/41604596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17452625" y="6533725"/>
            <a:ext cx="6429000" cy="6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Прироста AUROC (или сопоставимое улучшение качества прогноза). Современные систематические обзоры показывают, что модели машинного обучения обычно демонстрируют умеренное, но устойчивое превосходство над классическими статическими моделями. Например: в одном из обзоров AutoML достиг AUROC 0,884 против 0,821 у FINDRISC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https://pmc.ncbi.nlm.nih.gov/articles/PMC13167060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>
            <p:ph idx="2" type="body"/>
          </p:nvPr>
        </p:nvSpPr>
        <p:spPr>
          <a:xfrm>
            <a:off x="6676025" y="1242575"/>
            <a:ext cx="52602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Сахарный диабет </a:t>
            </a:r>
            <a:endParaRPr sz="1800"/>
          </a:p>
        </p:txBody>
      </p:sp>
      <p:sp>
        <p:nvSpPr>
          <p:cNvPr id="56" name="Google Shape;56;p5"/>
          <p:cNvSpPr txBox="1"/>
          <p:nvPr>
            <p:ph idx="2" type="body"/>
          </p:nvPr>
        </p:nvSpPr>
        <p:spPr>
          <a:xfrm>
            <a:off x="12546100" y="1167425"/>
            <a:ext cx="80379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Исследование методов машинного обучения для прогнозирования сахарного диабета на основе клинических данных</a:t>
            </a:r>
            <a:endParaRPr sz="1800"/>
          </a:p>
        </p:txBody>
      </p:sp>
      <p:sp>
        <p:nvSpPr>
          <p:cNvPr id="57" name="Google Shape;57;p5"/>
          <p:cNvSpPr txBox="1"/>
          <p:nvPr>
            <p:ph idx="2" type="body"/>
          </p:nvPr>
        </p:nvSpPr>
        <p:spPr>
          <a:xfrm>
            <a:off x="2370775" y="1242575"/>
            <a:ext cx="4007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Проблема проекта 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/>
          <p:nvPr/>
        </p:nvSpPr>
        <p:spPr>
          <a:xfrm>
            <a:off x="1133800" y="2627900"/>
            <a:ext cx="9925200" cy="16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Научный аппарат </a:t>
            </a: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исследования</a:t>
            </a: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5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1133800" y="3830050"/>
            <a:ext cx="22683600" cy="9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Проблема исследования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: Отсутствие модели анализа открытых клинических данных, обеспечивающей прогнозирование наличия сахарного диабета с применением методов машинного обучения и снижения размерности данных.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Объект исследования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:  Процесс прогнозирования наличия сахарного диабета на основе анализа клинических данных пациентов.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Предмет исследования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: Методы анализа данных, машинного обучения и снижения размерности (PCA и SVD), применяемые для классификации пациентов по признаку наличия сахарного диабета.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Гипотеза исследования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: Комплексное применение методов предварительной обработки данных, стандартизации признаков, алгоритмов снижения размерности (Principal Component Analysis и Singular Value Decomposition) и моделей машинного обучения позволит выявить скрытые закономерности в данных и обеспечить эффективное прогнозирование наличия сахарного диабета на основе клинических показателей.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Цель исследования: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 Разработать и исследовать модель прогнозирования сахарного диабета на основе открытого клинического датасета.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Данные исследования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: В работе используется клинический датасет, содержащий сведения о пациентах, включая демографические характеристики, индекс массы тела (BMI), уровень гликированного гемоглобина (HbA1c), концентрацию глюкозы в крови, наличие артериальной гипертензии и сердечно-сосудистых заболеваний, статус курения, а также наличие или отсутствие сахарного диабета. Для исследования применялись методы предварительной обработки данных, стандартизации, визуализации, снижения размерности и машинного обучения.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 txBox="1"/>
          <p:nvPr>
            <p:ph idx="2" type="body"/>
          </p:nvPr>
        </p:nvSpPr>
        <p:spPr>
          <a:xfrm>
            <a:off x="12546100" y="1167425"/>
            <a:ext cx="80379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Исследование методов машинного обучения для прогнозирования сахарного диабета на основе клинических данных</a:t>
            </a:r>
            <a:endParaRPr sz="1800"/>
          </a:p>
        </p:txBody>
      </p:sp>
      <p:sp>
        <p:nvSpPr>
          <p:cNvPr id="65" name="Google Shape;65;p6"/>
          <p:cNvSpPr txBox="1"/>
          <p:nvPr>
            <p:ph idx="2" type="body"/>
          </p:nvPr>
        </p:nvSpPr>
        <p:spPr>
          <a:xfrm>
            <a:off x="6676025" y="1242575"/>
            <a:ext cx="52602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Сахарный диабет </a:t>
            </a:r>
            <a:endParaRPr sz="1800"/>
          </a:p>
        </p:txBody>
      </p:sp>
      <p:sp>
        <p:nvSpPr>
          <p:cNvPr id="66" name="Google Shape;66;p6"/>
          <p:cNvSpPr txBox="1"/>
          <p:nvPr>
            <p:ph idx="2" type="body"/>
          </p:nvPr>
        </p:nvSpPr>
        <p:spPr>
          <a:xfrm>
            <a:off x="2370775" y="1242575"/>
            <a:ext cx="4007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Описание проекта 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/>
          <p:nvPr/>
        </p:nvSpPr>
        <p:spPr>
          <a:xfrm>
            <a:off x="1133800" y="2627900"/>
            <a:ext cx="174450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Исследовательский</a:t>
            </a: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 анализ данных </a:t>
            </a: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5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 txBox="1"/>
          <p:nvPr/>
        </p:nvSpPr>
        <p:spPr>
          <a:xfrm>
            <a:off x="1133800" y="4055600"/>
            <a:ext cx="11629800" cy="80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Для выявления закономерностей в данных проведён комплексный исследовательский анализ.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В ходе работы: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исследованы распределения количественных признаков;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выполнен корреляционный анализ между переменными;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проанализировано влияние отдельных факторов на наличие сахарного диабета;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проведена визуализация данных с использованием гистограмм, диаграмм рассеяния и тепловых карт корреляций.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Полученные результаты подтвердили наличие взаимосвязей между уровнем глюкозы, HbA1c, индексом массы тела и вероятностью наличия сахарного диабета.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63600" y="4055600"/>
            <a:ext cx="11049000" cy="88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7"/>
          <p:cNvSpPr txBox="1"/>
          <p:nvPr>
            <p:ph idx="2" type="body"/>
          </p:nvPr>
        </p:nvSpPr>
        <p:spPr>
          <a:xfrm>
            <a:off x="12546100" y="1167425"/>
            <a:ext cx="80379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Исследование методов машинного обучения для прогнозирования сахарного диабета на основе клинических данных</a:t>
            </a:r>
            <a:endParaRPr sz="1800"/>
          </a:p>
        </p:txBody>
      </p:sp>
      <p:sp>
        <p:nvSpPr>
          <p:cNvPr id="75" name="Google Shape;75;p7"/>
          <p:cNvSpPr txBox="1"/>
          <p:nvPr>
            <p:ph idx="2" type="body"/>
          </p:nvPr>
        </p:nvSpPr>
        <p:spPr>
          <a:xfrm>
            <a:off x="6676025" y="1242575"/>
            <a:ext cx="52602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Сахарный диабет </a:t>
            </a:r>
            <a:endParaRPr sz="1800"/>
          </a:p>
        </p:txBody>
      </p:sp>
      <p:sp>
        <p:nvSpPr>
          <p:cNvPr id="76" name="Google Shape;76;p7"/>
          <p:cNvSpPr txBox="1"/>
          <p:nvPr>
            <p:ph idx="2" type="body"/>
          </p:nvPr>
        </p:nvSpPr>
        <p:spPr>
          <a:xfrm>
            <a:off x="2370775" y="1242575"/>
            <a:ext cx="4007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Корреляционная</a:t>
            </a:r>
            <a:r>
              <a:rPr lang="en-US" sz="1800">
                <a:solidFill>
                  <a:srgbClr val="0C0C0C"/>
                </a:solidFill>
              </a:rPr>
              <a:t> матрица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/>
          <p:nvPr/>
        </p:nvSpPr>
        <p:spPr>
          <a:xfrm>
            <a:off x="1133800" y="2627900"/>
            <a:ext cx="174450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Применение Principal Component Analysis (PCA)</a:t>
            </a: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5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/>
          <p:nvPr>
            <p:ph idx="2" type="body"/>
          </p:nvPr>
        </p:nvSpPr>
        <p:spPr>
          <a:xfrm>
            <a:off x="12546100" y="1167425"/>
            <a:ext cx="80379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Исследование методов машинного обучения для прогнозирования сахарного диабета на основе клинических данных</a:t>
            </a:r>
            <a:endParaRPr sz="1800"/>
          </a:p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6676025" y="1242575"/>
            <a:ext cx="52602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Сахарный диабет </a:t>
            </a:r>
            <a:endParaRPr sz="1800"/>
          </a:p>
        </p:txBody>
      </p:sp>
      <p:pic>
        <p:nvPicPr>
          <p:cNvPr id="84" name="Google Shape;8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4875" y="3792701"/>
            <a:ext cx="7717825" cy="950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4008" y="4257088"/>
            <a:ext cx="10310856" cy="8296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8"/>
          <p:cNvSpPr txBox="1"/>
          <p:nvPr/>
        </p:nvSpPr>
        <p:spPr>
          <a:xfrm>
            <a:off x="1133800" y="4055588"/>
            <a:ext cx="4485900" cy="8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3000">
                <a:solidFill>
                  <a:srgbClr val="2C2D2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Первые две главные компоненты объясняют около 36,7% общей дисперсии, что позволяет использовать их для визуализации структуры данных. Полученная проекция демонстрирует частичное перекрытие классов, указывая на отсутствие линейной разделимости пациентов и необходимость применения алгоритмов машинного обучения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 txBox="1"/>
          <p:nvPr>
            <p:ph idx="2" type="body"/>
          </p:nvPr>
        </p:nvSpPr>
        <p:spPr>
          <a:xfrm>
            <a:off x="2370775" y="1242575"/>
            <a:ext cx="4007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PCA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/>
          <p:nvPr/>
        </p:nvSpPr>
        <p:spPr>
          <a:xfrm>
            <a:off x="1133800" y="2627900"/>
            <a:ext cx="174450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Применение Singular Value Decomposition (SVD)</a:t>
            </a:r>
            <a:endParaRPr sz="5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 txBox="1"/>
          <p:nvPr>
            <p:ph idx="2" type="body"/>
          </p:nvPr>
        </p:nvSpPr>
        <p:spPr>
          <a:xfrm>
            <a:off x="12546100" y="1167425"/>
            <a:ext cx="80379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Исследование методов машинного обучения для прогнозирования сахарного диабета на основе клинических данных</a:t>
            </a:r>
            <a:endParaRPr sz="1800"/>
          </a:p>
        </p:txBody>
      </p:sp>
      <p:sp>
        <p:nvSpPr>
          <p:cNvPr id="94" name="Google Shape;94;p9"/>
          <p:cNvSpPr txBox="1"/>
          <p:nvPr>
            <p:ph idx="2" type="body"/>
          </p:nvPr>
        </p:nvSpPr>
        <p:spPr>
          <a:xfrm>
            <a:off x="6676025" y="1242575"/>
            <a:ext cx="52602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Сахарный диабет </a:t>
            </a:r>
            <a:endParaRPr sz="1800"/>
          </a:p>
        </p:txBody>
      </p:sp>
      <p:sp>
        <p:nvSpPr>
          <p:cNvPr id="95" name="Google Shape;95;p9"/>
          <p:cNvSpPr txBox="1"/>
          <p:nvPr/>
        </p:nvSpPr>
        <p:spPr>
          <a:xfrm>
            <a:off x="1133800" y="4055588"/>
            <a:ext cx="4485900" cy="88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C2D2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Полученные результаты оказались практически идентичными результатам PCA, что объясняется математической связью данных методов. SVD подтвердил сохранение основной структуры данных и возможность эффективного снижения размерности без существенной потери информативности</a:t>
            </a:r>
            <a:endParaRPr sz="3000">
              <a:solidFill>
                <a:srgbClr val="2C2D2E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C2D2E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3000">
              <a:solidFill>
                <a:srgbClr val="2C2D2E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9181" y="4055600"/>
            <a:ext cx="7114250" cy="92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7950" y="4462450"/>
            <a:ext cx="10218425" cy="8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 txBox="1"/>
          <p:nvPr>
            <p:ph idx="2" type="body"/>
          </p:nvPr>
        </p:nvSpPr>
        <p:spPr>
          <a:xfrm>
            <a:off x="2370775" y="1242575"/>
            <a:ext cx="4007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SVD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/>
        </p:nvSpPr>
        <p:spPr>
          <a:xfrm>
            <a:off x="1133800" y="2627900"/>
            <a:ext cx="174450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Построение</a:t>
            </a: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 модели </a:t>
            </a: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машинного</a:t>
            </a: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 обучения </a:t>
            </a:r>
            <a:endParaRPr sz="5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 txBox="1"/>
          <p:nvPr>
            <p:ph idx="2" type="body"/>
          </p:nvPr>
        </p:nvSpPr>
        <p:spPr>
          <a:xfrm>
            <a:off x="12546100" y="1167425"/>
            <a:ext cx="80379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Исследование методов машинного обучения для прогнозирования сахарного диабета на основе клинических данных</a:t>
            </a:r>
            <a:endParaRPr sz="1800"/>
          </a:p>
        </p:txBody>
      </p:sp>
      <p:sp>
        <p:nvSpPr>
          <p:cNvPr id="105" name="Google Shape;105;p10"/>
          <p:cNvSpPr txBox="1"/>
          <p:nvPr>
            <p:ph idx="2" type="body"/>
          </p:nvPr>
        </p:nvSpPr>
        <p:spPr>
          <a:xfrm>
            <a:off x="6676025" y="1242575"/>
            <a:ext cx="52602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Сахарный диабет </a:t>
            </a:r>
            <a:endParaRPr sz="1800"/>
          </a:p>
        </p:txBody>
      </p:sp>
      <p:sp>
        <p:nvSpPr>
          <p:cNvPr id="106" name="Google Shape;106;p10"/>
          <p:cNvSpPr txBox="1"/>
          <p:nvPr>
            <p:ph idx="2" type="body"/>
          </p:nvPr>
        </p:nvSpPr>
        <p:spPr>
          <a:xfrm>
            <a:off x="2370775" y="1242575"/>
            <a:ext cx="4007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Матрица ошибок </a:t>
            </a:r>
            <a:endParaRPr sz="1800"/>
          </a:p>
        </p:txBody>
      </p:sp>
      <p:pic>
        <p:nvPicPr>
          <p:cNvPr id="107" name="Google Shape;10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175" y="4257050"/>
            <a:ext cx="21338348" cy="913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0"/>
          <p:cNvSpPr txBox="1"/>
          <p:nvPr/>
        </p:nvSpPr>
        <p:spPr>
          <a:xfrm>
            <a:off x="8552450" y="3804950"/>
            <a:ext cx="155808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Обучены модели машинного обучения для решения задачи бинарной классификации пациентов по признаку наличия сахарного диабета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И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спользовались алгоритмы логистической регрессии, метода k-ближайших соседей (KNN) и дерева решений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Качество моделей оценивалось на тестовой выборке с использованием Confusion Matrix 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Наилучшие результаты продемонстрировала логистическая регрессия, обеспечившая наибольшую точность классификации на тестовой выборке.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/>
          <p:nvPr/>
        </p:nvSpPr>
        <p:spPr>
          <a:xfrm>
            <a:off x="1133800" y="2627900"/>
            <a:ext cx="174450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Интопритация результатов </a:t>
            </a: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5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 txBox="1"/>
          <p:nvPr>
            <p:ph idx="2" type="body"/>
          </p:nvPr>
        </p:nvSpPr>
        <p:spPr>
          <a:xfrm>
            <a:off x="12546100" y="1167425"/>
            <a:ext cx="80379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Исследование методов машинного обучения для прогнозирования сахарного диабета на основе клинических данных</a:t>
            </a:r>
            <a:endParaRPr sz="1800"/>
          </a:p>
        </p:txBody>
      </p:sp>
      <p:sp>
        <p:nvSpPr>
          <p:cNvPr id="115" name="Google Shape;115;p11"/>
          <p:cNvSpPr txBox="1"/>
          <p:nvPr>
            <p:ph idx="2" type="body"/>
          </p:nvPr>
        </p:nvSpPr>
        <p:spPr>
          <a:xfrm>
            <a:off x="6676025" y="1242575"/>
            <a:ext cx="52602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Сахарный диабет </a:t>
            </a:r>
            <a:endParaRPr sz="1800"/>
          </a:p>
        </p:txBody>
      </p:sp>
      <p:sp>
        <p:nvSpPr>
          <p:cNvPr id="116" name="Google Shape;116;p11"/>
          <p:cNvSpPr txBox="1"/>
          <p:nvPr>
            <p:ph idx="2" type="body"/>
          </p:nvPr>
        </p:nvSpPr>
        <p:spPr>
          <a:xfrm>
            <a:off x="2370775" y="1242575"/>
            <a:ext cx="4007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ROC-кривая </a:t>
            </a:r>
            <a:endParaRPr sz="1800"/>
          </a:p>
        </p:txBody>
      </p:sp>
      <p:pic>
        <p:nvPicPr>
          <p:cNvPr id="117" name="Google Shape;11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6863" y="3229475"/>
            <a:ext cx="13108663" cy="1002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1"/>
          <p:cNvSpPr txBox="1"/>
          <p:nvPr/>
        </p:nvSpPr>
        <p:spPr>
          <a:xfrm>
            <a:off x="751975" y="4657200"/>
            <a:ext cx="9655200" cy="69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C0C0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Результаты анализа:</a:t>
            </a:r>
            <a:endParaRPr sz="4000">
              <a:solidFill>
                <a:srgbClr val="0C0C0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000"/>
              <a:buFont typeface="Helvetica Neue"/>
              <a:buChar char="○"/>
            </a:pPr>
            <a:r>
              <a:rPr lang="en-US" sz="3000">
                <a:solidFill>
                  <a:srgbClr val="2C2D2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Ключевыми факторами прогнозирования являются лабораторные и антропометрические показатели пациентов</a:t>
            </a:r>
            <a:endParaRPr sz="3000">
              <a:solidFill>
                <a:srgbClr val="2C2D2E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C2D2E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000"/>
              <a:buFont typeface="Helvetica Neue"/>
              <a:buChar char="○"/>
            </a:pPr>
            <a:r>
              <a:rPr lang="en-US" sz="3000">
                <a:solidFill>
                  <a:srgbClr val="2C2D2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Применение методов снижения размерности позволило исследовать структуру данных</a:t>
            </a:r>
            <a:endParaRPr sz="3000">
              <a:solidFill>
                <a:srgbClr val="2C2D2E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C2D2E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000"/>
              <a:buFont typeface="Helvetica Neue"/>
              <a:buChar char="○"/>
            </a:pPr>
            <a:r>
              <a:rPr lang="en-US" sz="3000">
                <a:solidFill>
                  <a:srgbClr val="2C2D2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Модели машинного обучения подтвердили возможность эффективной классификации пациентов на основе совокупности клинических признаков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0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/>
        </p:nvSpPr>
        <p:spPr>
          <a:xfrm>
            <a:off x="1133800" y="2627900"/>
            <a:ext cx="174450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Выводы </a:t>
            </a: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исследования</a:t>
            </a: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5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 txBox="1"/>
          <p:nvPr>
            <p:ph idx="2" type="body"/>
          </p:nvPr>
        </p:nvSpPr>
        <p:spPr>
          <a:xfrm>
            <a:off x="12546100" y="1167425"/>
            <a:ext cx="80379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Исследование методов машинного обучения для прогнозирования сахарного диабета на основе клинических данных</a:t>
            </a:r>
            <a:endParaRPr sz="1800"/>
          </a:p>
        </p:txBody>
      </p:sp>
      <p:sp>
        <p:nvSpPr>
          <p:cNvPr id="125" name="Google Shape;125;p12"/>
          <p:cNvSpPr txBox="1"/>
          <p:nvPr>
            <p:ph idx="2" type="body"/>
          </p:nvPr>
        </p:nvSpPr>
        <p:spPr>
          <a:xfrm>
            <a:off x="6676025" y="1242575"/>
            <a:ext cx="52602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Сахарный диабет </a:t>
            </a:r>
            <a:endParaRPr sz="1800"/>
          </a:p>
        </p:txBody>
      </p:sp>
      <p:sp>
        <p:nvSpPr>
          <p:cNvPr id="126" name="Google Shape;126;p12"/>
          <p:cNvSpPr txBox="1"/>
          <p:nvPr>
            <p:ph idx="2" type="body"/>
          </p:nvPr>
        </p:nvSpPr>
        <p:spPr>
          <a:xfrm>
            <a:off x="2370775" y="1242575"/>
            <a:ext cx="4007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/>
              <a:t>Заключение</a:t>
            </a:r>
            <a:endParaRPr sz="1800"/>
          </a:p>
        </p:txBody>
      </p:sp>
      <p:sp>
        <p:nvSpPr>
          <p:cNvPr id="127" name="Google Shape;127;p12"/>
          <p:cNvSpPr txBox="1"/>
          <p:nvPr/>
        </p:nvSpPr>
        <p:spPr>
          <a:xfrm>
            <a:off x="1133800" y="4055600"/>
            <a:ext cx="22257600" cy="78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2E"/>
              </a:buClr>
              <a:buSzPts val="4000"/>
              <a:buFont typeface="Calibri"/>
              <a:buAutoNum type="arabicPeriod"/>
            </a:pPr>
            <a:r>
              <a:rPr lang="en-US" sz="4000">
                <a:solidFill>
                  <a:srgbClr val="2C2D2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Выполнена комплексная предварительная обработка открытого клинического датасета по сахарному диабету.</a:t>
            </a:r>
            <a:endParaRPr sz="4000">
              <a:solidFill>
                <a:srgbClr val="2C2D2E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2E"/>
              </a:buClr>
              <a:buSzPts val="4000"/>
              <a:buFont typeface="Calibri"/>
              <a:buAutoNum type="arabicPeriod"/>
            </a:pPr>
            <a:r>
              <a:rPr lang="en-US" sz="4000">
                <a:solidFill>
                  <a:srgbClr val="2C2D2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Проведен исследовательский анализ данных и выявлены значимые взаимосвязи между клиническими показателями.</a:t>
            </a:r>
            <a:endParaRPr sz="4000">
              <a:solidFill>
                <a:srgbClr val="2C2D2E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2E"/>
              </a:buClr>
              <a:buSzPts val="4000"/>
              <a:buFont typeface="Calibri"/>
              <a:buAutoNum type="arabicPeriod"/>
            </a:pPr>
            <a:r>
              <a:rPr lang="en-US" sz="4000">
                <a:solidFill>
                  <a:srgbClr val="2C2D2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Реализованы методы снижения размерности PCA и SVD, позволившие исследовать внутреннюю структуру признакового пространства.</a:t>
            </a:r>
            <a:endParaRPr sz="4000">
              <a:solidFill>
                <a:srgbClr val="2C2D2E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2E"/>
              </a:buClr>
              <a:buSzPts val="4000"/>
              <a:buFont typeface="Calibri"/>
              <a:buAutoNum type="arabicPeriod"/>
            </a:pPr>
            <a:r>
              <a:rPr lang="en-US" sz="4000">
                <a:solidFill>
                  <a:srgbClr val="2C2D2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Обучены и сравнены модели машинного обучения для прогнозирования наличия сахарного диабета.</a:t>
            </a:r>
            <a:endParaRPr sz="4000">
              <a:solidFill>
                <a:srgbClr val="2C2D2E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2E"/>
              </a:buClr>
              <a:buSzPts val="4000"/>
              <a:buFont typeface="Calibri"/>
              <a:buAutoNum type="arabicPeriod"/>
            </a:pPr>
            <a:r>
              <a:rPr lang="en-US" sz="4000">
                <a:solidFill>
                  <a:srgbClr val="2C2D2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Полученные результаты подтверждают перспективность использования методов интеллектуального анализа данных для поддержки принятия решений в задачах ранней диагностики сахарного диабета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/>
          <p:nvPr/>
        </p:nvSpPr>
        <p:spPr>
          <a:xfrm>
            <a:off x="1133800" y="2627900"/>
            <a:ext cx="174450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Список литературы </a:t>
            </a:r>
            <a:r>
              <a:rPr lang="en-US" sz="56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5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 txBox="1"/>
          <p:nvPr>
            <p:ph idx="2" type="body"/>
          </p:nvPr>
        </p:nvSpPr>
        <p:spPr>
          <a:xfrm>
            <a:off x="12546100" y="1167425"/>
            <a:ext cx="80379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Исследование методов машинного обучения для прогнозирования сахарного диабета на основе клинических данных</a:t>
            </a:r>
            <a:endParaRPr sz="1800"/>
          </a:p>
        </p:txBody>
      </p:sp>
      <p:sp>
        <p:nvSpPr>
          <p:cNvPr id="134" name="Google Shape;134;p13"/>
          <p:cNvSpPr txBox="1"/>
          <p:nvPr>
            <p:ph idx="2" type="body"/>
          </p:nvPr>
        </p:nvSpPr>
        <p:spPr>
          <a:xfrm>
            <a:off x="6676025" y="1242575"/>
            <a:ext cx="52602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Сахарный диабет </a:t>
            </a:r>
            <a:endParaRPr sz="1800"/>
          </a:p>
        </p:txBody>
      </p:sp>
      <p:sp>
        <p:nvSpPr>
          <p:cNvPr id="135" name="Google Shape;135;p13"/>
          <p:cNvSpPr txBox="1"/>
          <p:nvPr>
            <p:ph idx="2" type="body"/>
          </p:nvPr>
        </p:nvSpPr>
        <p:spPr>
          <a:xfrm>
            <a:off x="2370775" y="1242575"/>
            <a:ext cx="4007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n-US" sz="1800">
                <a:solidFill>
                  <a:srgbClr val="0C0C0C"/>
                </a:solidFill>
              </a:rPr>
              <a:t>Научные публикации</a:t>
            </a:r>
            <a:endParaRPr sz="1800"/>
          </a:p>
        </p:txBody>
      </p:sp>
      <p:sp>
        <p:nvSpPr>
          <p:cNvPr id="136" name="Google Shape;136;p13"/>
          <p:cNvSpPr txBox="1"/>
          <p:nvPr/>
        </p:nvSpPr>
        <p:spPr>
          <a:xfrm>
            <a:off x="1133800" y="4256175"/>
            <a:ext cx="20803800" cy="79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1. Demircioglu N., Erdogan I., Ersoy Y.E., Abbasoglu A.A. Raman spectroscopy for the non-invasive detection of glycated haemoglobin: A systematic review // Advances in Clinical Chemistry. 2019. Vol. 88. P. 71–90. 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2. Chen L., Wang J., Yan X., Chen H., Ni X. Non-invasive measurement of hemoglobin A1c using Raman spectroscopy // Analytical Methods. 2019. Vol. 11, N 37. P. 4743–4750.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3. Ibtehaz N., Chowdhury M.E.H., Khandakar A., et al. RamanNet: a generalized neural network architecture for Raman spectrum analysis // Neural Comput &amp; Applic. 2023. Vol. 35. P. 18719–18735. doi: 10.1007/s00521-023-08700-z 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4. Yin C., Wang X., Xu H., et al. Raman spectroscopy-based noninvasive glycated hemoglobin detection in blood samples: A machine learning approach // Analytical Chemistry. 2021. Vol. 93, N 7. P. 3273–3279.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5. González-Viveros N., Castro-Ramos J., Gómez-Gil P., Cerecedo Núñez H.H. Characterization of glycated hemoglobin based on Raman spectroscopy and artificial neural networks // Spectrochim Acta A Mol Biomol Spectrosc. 2021. Vol. 247. P. 119077. doi: 10.1016/j.saa.2020.119077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6. Trenerry M.I., et al. Validation of high-performance liquid chromatography assays for determination of glycated hemoglobin in diabetic studies // Clinica Chimica Acta. 1996. Vol. 246, N 1-2. P. 91–102.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4261479" y="2224144"/>
            <a:ext cx="71628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72222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800"/>
              <a:buNone/>
            </a:pPr>
            <a:r>
              <a:rPr lang="en-US" sz="1800"/>
              <a:t>Информационные системы и технологии </a:t>
            </a:r>
            <a:r>
              <a:rPr lang="en-US" sz="1800">
                <a:solidFill>
                  <a:srgbClr val="2253A1"/>
                </a:solidFill>
              </a:rPr>
              <a:t>(09.03.02) </a:t>
            </a:r>
            <a:endParaRPr sz="1800"/>
          </a:p>
          <a:p>
            <a:pPr indent="0" lvl="0" marL="0" rtl="0" algn="l">
              <a:lnSpc>
                <a:spcPct val="272222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800"/>
              <a:buNone/>
            </a:pPr>
            <a:r>
              <a:rPr lang="en-US" sz="1800">
                <a:solidFill>
                  <a:srgbClr val="2253A1"/>
                </a:solidFill>
              </a:rPr>
              <a:t>3 курс</a:t>
            </a:r>
            <a:endParaRPr sz="1800">
              <a:solidFill>
                <a:srgbClr val="0070C0"/>
              </a:solidFill>
            </a:endParaRPr>
          </a:p>
        </p:txBody>
      </p:sp>
      <p:sp>
        <p:nvSpPr>
          <p:cNvPr id="142" name="Google Shape;142;p14"/>
          <p:cNvSpPr txBox="1"/>
          <p:nvPr>
            <p:ph idx="2" type="body"/>
          </p:nvPr>
        </p:nvSpPr>
        <p:spPr>
          <a:xfrm>
            <a:off x="12479957" y="2224145"/>
            <a:ext cx="4741200" cy="15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800"/>
              <a:buFont typeface="Helvetica Neue"/>
              <a:buNone/>
            </a:pPr>
            <a:r>
              <a:rPr lang="en-US" sz="1800"/>
              <a:t>Передовая инженерная школа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800"/>
              <a:buFont typeface="Helvetica Neue"/>
              <a:buNone/>
            </a:pPr>
            <a:r>
              <a:rPr lang="en-US" sz="1800"/>
              <a:t>«Интеллектуальные системы тераностики»</a:t>
            </a:r>
            <a:endParaRPr sz="1800"/>
          </a:p>
        </p:txBody>
      </p:sp>
      <p:sp>
        <p:nvSpPr>
          <p:cNvPr id="143" name="Google Shape;143;p14"/>
          <p:cNvSpPr txBox="1"/>
          <p:nvPr>
            <p:ph idx="3" type="body"/>
          </p:nvPr>
        </p:nvSpPr>
        <p:spPr>
          <a:xfrm>
            <a:off x="17592002" y="2224145"/>
            <a:ext cx="4505700" cy="1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800"/>
              <a:buFont typeface="Helvetica Neue"/>
              <a:buNone/>
            </a:pPr>
            <a:r>
              <a:rPr lang="en-US" sz="1800"/>
              <a:t>Группа</a:t>
            </a:r>
            <a:br>
              <a:rPr lang="en-US" sz="1800"/>
            </a:br>
            <a:r>
              <a:rPr lang="en-US" sz="1800"/>
              <a:t>636-01</a:t>
            </a:r>
            <a:endParaRPr sz="1800"/>
          </a:p>
        </p:txBody>
      </p:sp>
      <p:sp>
        <p:nvSpPr>
          <p:cNvPr id="144" name="Google Shape;144;p14"/>
          <p:cNvSpPr txBox="1"/>
          <p:nvPr>
            <p:ph idx="4" type="body"/>
          </p:nvPr>
        </p:nvSpPr>
        <p:spPr>
          <a:xfrm>
            <a:off x="2029000" y="5461000"/>
            <a:ext cx="14984400" cy="4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27272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Helvetica Neue"/>
              <a:buNone/>
            </a:pPr>
            <a:r>
              <a:rPr lang="en-US" sz="9000">
                <a:solidFill>
                  <a:srgbClr val="0C0C0C"/>
                </a:solidFill>
              </a:rPr>
              <a:t>Благодарю за внимание!</a:t>
            </a:r>
            <a:endParaRPr sz="9000">
              <a:solidFill>
                <a:srgbClr val="0C0C0C"/>
              </a:solidFill>
            </a:endParaRPr>
          </a:p>
        </p:txBody>
      </p:sp>
      <p:sp>
        <p:nvSpPr>
          <p:cNvPr id="145" name="Google Shape;145;p14"/>
          <p:cNvSpPr txBox="1"/>
          <p:nvPr>
            <p:ph idx="5" type="body"/>
          </p:nvPr>
        </p:nvSpPr>
        <p:spPr>
          <a:xfrm>
            <a:off x="2029011" y="10099658"/>
            <a:ext cx="9995700" cy="17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57143"/>
              <a:buFont typeface="Helvetica Neue"/>
              <a:buNone/>
            </a:pPr>
            <a:r>
              <a:rPr lang="en-US">
                <a:solidFill>
                  <a:srgbClr val="0C0C0C"/>
                </a:solidFill>
              </a:rPr>
              <a:t>Белякова Екатерина Дмитриевна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